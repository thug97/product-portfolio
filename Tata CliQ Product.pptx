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" charset="1" panose="00000500000000000000"/>
      <p:regular r:id="rId17"/>
    </p:embeddedFont>
    <p:embeddedFont>
      <p:font typeface="Times New Roman Bold" charset="1" panose="02030802070405020303"/>
      <p:regular r:id="rId18"/>
    </p:embeddedFont>
    <p:embeddedFont>
      <p:font typeface="Glacial Indifference Bold" charset="1" panose="00000800000000000000"/>
      <p:regular r:id="rId19"/>
    </p:embeddedFont>
    <p:embeddedFont>
      <p:font typeface="HK Grotesk Bold" charset="1" panose="00000800000000000000"/>
      <p:regular r:id="rId20"/>
    </p:embeddedFont>
    <p:embeddedFont>
      <p:font typeface="HK Grotesk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2698948" cy="2024211"/>
          </a:xfrm>
          <a:custGeom>
            <a:avLst/>
            <a:gdLst/>
            <a:ahLst/>
            <a:cxnLst/>
            <a:rect r="r" b="b" t="t" l="l"/>
            <a:pathLst>
              <a:path h="2024211" w="2698948">
                <a:moveTo>
                  <a:pt x="0" y="0"/>
                </a:moveTo>
                <a:lnTo>
                  <a:pt x="2698948" y="0"/>
                </a:lnTo>
                <a:lnTo>
                  <a:pt x="2698948" y="2024211"/>
                </a:lnTo>
                <a:lnTo>
                  <a:pt x="0" y="2024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43404" y="6414887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Generative Engine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1632" y="3225307"/>
            <a:ext cx="8984736" cy="2798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4"/>
              </a:lnSpc>
            </a:pPr>
            <a:r>
              <a:rPr lang="en-US" b="true" sz="620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POSITIONING TATA CLIQ FOR THE </a:t>
            </a:r>
            <a:r>
              <a:rPr lang="en-US" b="true" sz="6207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LLM SEARCH ERA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86441" y="1773477"/>
            <a:ext cx="8201559" cy="6266738"/>
          </a:xfrm>
          <a:custGeom>
            <a:avLst/>
            <a:gdLst/>
            <a:ahLst/>
            <a:cxnLst/>
            <a:rect r="r" b="b" t="t" l="l"/>
            <a:pathLst>
              <a:path h="6266738" w="8201559">
                <a:moveTo>
                  <a:pt x="0" y="0"/>
                </a:moveTo>
                <a:lnTo>
                  <a:pt x="8201559" y="0"/>
                </a:lnTo>
                <a:lnTo>
                  <a:pt x="8201559" y="6266738"/>
                </a:lnTo>
                <a:lnTo>
                  <a:pt x="0" y="6266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19" t="0" r="-99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1130" y="861684"/>
            <a:ext cx="6706974" cy="156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GENERATIVE ENGINE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130" y="5086350"/>
            <a:ext cx="7436379" cy="444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GEO, 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user-relevant content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is more important than keyword stuffing.</a:t>
            </a:r>
          </a:p>
          <a:p>
            <a:pPr algn="l">
              <a:lnSpc>
                <a:spcPts val="3904"/>
              </a:lnSpc>
            </a:pP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Content quality is increasingly measured by its relevance to user queries </a:t>
            </a:r>
          </a:p>
          <a:p>
            <a:pPr algn="l">
              <a:lnSpc>
                <a:spcPts val="3904"/>
              </a:lnSpc>
            </a:pPr>
          </a:p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42%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of e-commerce sites report declining organic search referrals as AI-generated shopping results gain traction 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130" y="2582748"/>
            <a:ext cx="48558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Get recommended by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1130" y="3563086"/>
            <a:ext cx="670697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0%-</a:t>
            </a:r>
            <a:r>
              <a:rPr lang="en-US" sz="3000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Tata CliQ’s Chat GPT visibility in e-commerce, highlighting GEO needs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37587" y="8390631"/>
            <a:ext cx="564900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EFEF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Source: </a:t>
            </a:r>
            <a:r>
              <a:rPr lang="en-US" sz="2800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Hubspot AI Search Grader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424326" y="5312044"/>
            <a:ext cx="4725981" cy="4725981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66471" y="-11891"/>
              <a:ext cx="15572971" cy="14863810"/>
            </a:xfrm>
            <a:custGeom>
              <a:avLst/>
              <a:gdLst/>
              <a:ahLst/>
              <a:cxnLst/>
              <a:rect r="r" b="b" t="t" l="l"/>
              <a:pathLst>
                <a:path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-156193" y="188812"/>
              <a:ext cx="15152415" cy="14462405"/>
            </a:xfrm>
            <a:custGeom>
              <a:avLst/>
              <a:gdLst/>
              <a:ahLst/>
              <a:cxnLst/>
              <a:rect r="r" b="b" t="t" l="l"/>
              <a:pathLst>
                <a:path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23301" y="551024"/>
              <a:ext cx="14393427" cy="13737979"/>
            </a:xfrm>
            <a:custGeom>
              <a:avLst/>
              <a:gdLst/>
              <a:ahLst/>
              <a:cxnLst/>
              <a:rect r="r" b="b" t="t" l="l"/>
              <a:pathLst>
                <a:path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24712" t="0" r="-247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4822" y="525590"/>
            <a:ext cx="6142093" cy="10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</a:t>
            </a:r>
            <a:r>
              <a:rPr lang="en-US" b="true" sz="71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STATS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822" y="2286029"/>
            <a:ext cx="2158865" cy="56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2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400 million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822" y="3201134"/>
            <a:ext cx="1213444" cy="51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9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13.5 %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89142" y="2286029"/>
            <a:ext cx="8551716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average weekly ChatGPT users worldwide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9142" y="3177322"/>
            <a:ext cx="7088564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Largest user share is from India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4822" y="4068615"/>
            <a:ext cx="1213444" cy="51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972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46 %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9142" y="4068615"/>
            <a:ext cx="7088564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Share of queries utilizing the search feature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4822" y="5021179"/>
            <a:ext cx="1978785" cy="51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9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37.5 million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89142" y="5021179"/>
            <a:ext cx="7088564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Searches per day in 2024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4822" y="5974385"/>
            <a:ext cx="1978785" cy="51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9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45%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9142" y="5910249"/>
            <a:ext cx="7088564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Share of users that are millennials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4822" y="6841865"/>
            <a:ext cx="1978785" cy="515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</a:pPr>
            <a:r>
              <a:rPr lang="en-US" sz="2972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13 billion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89142" y="6850120"/>
            <a:ext cx="7088564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Money invested by Microsoft into Open 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4822" y="7795071"/>
            <a:ext cx="2158865" cy="56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1"/>
              </a:lnSpc>
            </a:pPr>
            <a:r>
              <a:rPr lang="en-US" sz="3272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30%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89142" y="7861111"/>
            <a:ext cx="7088564" cy="4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28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 visibility through traditional SEO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97412" y="1628700"/>
            <a:ext cx="7919014" cy="6625788"/>
          </a:xfrm>
          <a:custGeom>
            <a:avLst/>
            <a:gdLst/>
            <a:ahLst/>
            <a:cxnLst/>
            <a:rect r="r" b="b" t="t" l="l"/>
            <a:pathLst>
              <a:path h="6625788" w="7919014">
                <a:moveTo>
                  <a:pt x="0" y="0"/>
                </a:moveTo>
                <a:lnTo>
                  <a:pt x="7919014" y="0"/>
                </a:lnTo>
                <a:lnTo>
                  <a:pt x="7919014" y="6625788"/>
                </a:lnTo>
                <a:lnTo>
                  <a:pt x="0" y="6625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1130" y="861684"/>
            <a:ext cx="6386013" cy="156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OPEN AI &amp;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BING CONNECTION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130" y="3773934"/>
            <a:ext cx="7436379" cy="543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87%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of Chat GPT citations matched Bing’s top 20 results!</a:t>
            </a:r>
          </a:p>
          <a:p>
            <a:pPr algn="l">
              <a:lnSpc>
                <a:spcPts val="3904"/>
              </a:lnSpc>
            </a:pP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Google, this number is just 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56%</a:t>
            </a:r>
          </a:p>
          <a:p>
            <a:pPr algn="l">
              <a:lnSpc>
                <a:spcPts val="3904"/>
              </a:lnSpc>
            </a:pP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EFEFE"/>
                </a:solidFill>
                <a:latin typeface="HK Grotesk"/>
                <a:ea typeface="HK Grotesk"/>
                <a:cs typeface="HK Grotesk"/>
                <a:sym typeface="HK Grotesk"/>
              </a:rPr>
              <a:t>Also, Bing’s search share has doubled to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11%</a:t>
            </a:r>
            <a:r>
              <a:rPr lang="en-US" sz="2788">
                <a:solidFill>
                  <a:srgbClr val="FEFEFE"/>
                </a:solidFill>
                <a:latin typeface="HK Grotesk"/>
                <a:ea typeface="HK Grotesk"/>
                <a:cs typeface="HK Grotesk"/>
                <a:sym typeface="HK Grotesk"/>
              </a:rPr>
              <a:t> in the last 5 years!</a:t>
            </a:r>
          </a:p>
          <a:p>
            <a:pPr algn="l">
              <a:lnSpc>
                <a:spcPts val="3904"/>
              </a:lnSpc>
            </a:pPr>
          </a:p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Currently, Tata Cliq is ranking in the 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rd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page of Bing Search for Fashion Stores while it is in the 1st page in Google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130" y="2582748"/>
            <a:ext cx="57337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Microsoft’s strategic partnership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75557" y="8684677"/>
            <a:ext cx="57337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Source: </a:t>
            </a:r>
            <a:r>
              <a:rPr lang="en-US" sz="3000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Seer Interactive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0740" y="1973434"/>
            <a:ext cx="7947260" cy="5889931"/>
          </a:xfrm>
          <a:custGeom>
            <a:avLst/>
            <a:gdLst/>
            <a:ahLst/>
            <a:cxnLst/>
            <a:rect r="r" b="b" t="t" l="l"/>
            <a:pathLst>
              <a:path h="5889931" w="7947260">
                <a:moveTo>
                  <a:pt x="0" y="0"/>
                </a:moveTo>
                <a:lnTo>
                  <a:pt x="7947260" y="0"/>
                </a:lnTo>
                <a:lnTo>
                  <a:pt x="7947260" y="5889931"/>
                </a:lnTo>
                <a:lnTo>
                  <a:pt x="0" y="5889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35" r="0" b="-9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1130" y="861684"/>
            <a:ext cx="8794587" cy="7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b="true" sz="50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IMPROVING </a:t>
            </a:r>
            <a:r>
              <a:rPr lang="en-US" b="true" sz="50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BING GEO/SEO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130" y="1907447"/>
            <a:ext cx="57337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Bing Webmaster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130" y="3017294"/>
            <a:ext cx="7436379" cy="48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BWT is the Microsoft equivalent of GSC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1130" y="3941482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According to Microsoft, Businesses using BWT have seen 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45%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increase in Organic Bing Traffic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130" y="5508950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Upto 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30%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improvement in click-through rates via improved SERP positions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130" y="6924018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Unlike GSC, Bing allows for instant indexing of updated content (Indexnow)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59611" y="2202722"/>
            <a:ext cx="7328389" cy="6585558"/>
          </a:xfrm>
          <a:custGeom>
            <a:avLst/>
            <a:gdLst/>
            <a:ahLst/>
            <a:cxnLst/>
            <a:rect r="r" b="b" t="t" l="l"/>
            <a:pathLst>
              <a:path h="6585558" w="7328389">
                <a:moveTo>
                  <a:pt x="0" y="0"/>
                </a:moveTo>
                <a:lnTo>
                  <a:pt x="7328389" y="0"/>
                </a:lnTo>
                <a:lnTo>
                  <a:pt x="7328389" y="6585558"/>
                </a:lnTo>
                <a:lnTo>
                  <a:pt x="0" y="658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39" r="0" b="-563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1130" y="861684"/>
            <a:ext cx="7083824" cy="7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IMPROVING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BING SEO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130" y="1907447"/>
            <a:ext cx="57337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Social Traffic Signals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130" y="3017294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Google doesn’t consider social traffic for SEO, but Bing does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1130" y="4260912"/>
            <a:ext cx="7436379" cy="147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Bing tracks how often your content is shared, liked, or mentioned on platforms like Facebook,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Twitter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and LinkedIn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130" y="5999830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 crawlers are trained on public data like those available on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Reddit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Twitter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, etc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130" y="8487066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Currently, Tata CliQ doesn’t have a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verified Twitter Handle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130" y="7243448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Hence,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Twitter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presence is essential for AI visibility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76472" y="630281"/>
            <a:ext cx="7211528" cy="8628019"/>
          </a:xfrm>
          <a:custGeom>
            <a:avLst/>
            <a:gdLst/>
            <a:ahLst/>
            <a:cxnLst/>
            <a:rect r="r" b="b" t="t" l="l"/>
            <a:pathLst>
              <a:path h="8628019" w="7211528">
                <a:moveTo>
                  <a:pt x="0" y="0"/>
                </a:moveTo>
                <a:lnTo>
                  <a:pt x="7211528" y="0"/>
                </a:lnTo>
                <a:lnTo>
                  <a:pt x="7211528" y="8628019"/>
                </a:lnTo>
                <a:lnTo>
                  <a:pt x="0" y="862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332" t="-7305" r="-546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1130" y="861684"/>
            <a:ext cx="7057328" cy="156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ENHANCING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OPEN AI VISIBILITY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130" y="2454093"/>
            <a:ext cx="57337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Get Cited by Chat GPT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130" y="3283381"/>
            <a:ext cx="8272870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Using quotes, stats, and citations included the chance of getting cited by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24.6%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-95% waterproof material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1130" y="4565712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ChatGPT heavily prioritizes content from authoritative sources (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41%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)-Wikipedia citings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130" y="5847430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Model prefers content structured in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direct QA format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1130" y="7129148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Including Online reviews increased the chance of getting cited by </a:t>
            </a:r>
            <a:r>
              <a:rPr lang="en-US" sz="2788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16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1340" y="9448800"/>
            <a:ext cx="2574211" cy="48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Source: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Ahrefs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1130" y="8529032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Research by Ahrefs graded the effectiveness of different strategies for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LLM Visibility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as shown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092963" y="-11586584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1130" y="861684"/>
            <a:ext cx="7057328" cy="7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ASK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CLIQERS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1130" y="1747639"/>
            <a:ext cx="7057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User-Sourced Q&amp;A Layer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1130" y="3224014"/>
            <a:ext cx="7931600" cy="93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User questions have </a:t>
            </a:r>
            <a:r>
              <a:rPr lang="en-US" sz="26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natural phrasing</a:t>
            </a: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that Gen AI engines prefer over Keyword stuffing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1130" y="4599244"/>
            <a:ext cx="7436379" cy="188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Q&amp;A content can increase organic traffic by up to </a:t>
            </a:r>
            <a:r>
              <a:rPr lang="en-US" sz="26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400%</a:t>
            </a: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and overall traffic by up to </a:t>
            </a:r>
            <a:r>
              <a:rPr lang="en-US" sz="26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200%</a:t>
            </a: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due to authority from user content.</a:t>
            </a:r>
          </a:p>
          <a:p>
            <a:pPr algn="l">
              <a:lnSpc>
                <a:spcPts val="376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71130" y="6184024"/>
            <a:ext cx="7436379" cy="1884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80%</a:t>
            </a: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of sources featured in  </a:t>
            </a:r>
            <a:r>
              <a:rPr lang="en-US" sz="26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Google AI Overviews</a:t>
            </a: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don’t need to rank in the top 10 if they are well-structured and answer user queries directly. </a:t>
            </a:r>
          </a:p>
          <a:p>
            <a:pPr algn="l">
              <a:lnSpc>
                <a:spcPts val="376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71130" y="8020732"/>
            <a:ext cx="7436379" cy="236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50.08%</a:t>
            </a:r>
            <a:r>
              <a:rPr lang="en-US" sz="26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of e-commerce sites lack product schema markup, which is critical for AI visibility. Implementing it for Q&amp;A content can give a competitive edge</a:t>
            </a:r>
          </a:p>
          <a:p>
            <a:pPr algn="l">
              <a:lnSpc>
                <a:spcPts val="376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71130" y="2366764"/>
            <a:ext cx="7057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LLMO Method-</a:t>
            </a:r>
            <a:r>
              <a:rPr lang="en-US" sz="3000" i="true">
                <a:solidFill>
                  <a:srgbClr val="FF3131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Fluency</a:t>
            </a: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, </a:t>
            </a:r>
            <a:r>
              <a:rPr lang="en-US" sz="3000" i="true">
                <a:solidFill>
                  <a:srgbClr val="FF3131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Authority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092963" y="-11586584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0524" y="526297"/>
            <a:ext cx="7057328" cy="7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CLIQ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0524" y="1479856"/>
            <a:ext cx="737759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Facts That </a:t>
            </a:r>
            <a:r>
              <a:rPr lang="en-US" sz="3000" i="true">
                <a:solidFill>
                  <a:srgbClr val="FF3131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CliQ</a:t>
            </a: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 From Sources That Prove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919" y="2941828"/>
            <a:ext cx="7377590" cy="95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 models prefer citing content that appears </a:t>
            </a:r>
            <a:r>
              <a:rPr lang="en-US" sz="2766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factual</a:t>
            </a: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and </a:t>
            </a:r>
            <a:r>
              <a:rPr lang="en-US" sz="2766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verifiable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919" y="4131166"/>
            <a:ext cx="7436379" cy="196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Content with statistics is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40%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more likely to rank on the first page of search results, as it matches AI’s preference for structured data</a:t>
            </a:r>
          </a:p>
          <a:p>
            <a:pPr algn="l">
              <a:lnSpc>
                <a:spcPts val="390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29919" y="6028025"/>
            <a:ext cx="7377590" cy="95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Statistics scored </a:t>
            </a:r>
            <a:r>
              <a:rPr lang="en-US" sz="2766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25.2</a:t>
            </a: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in position-adjusted word count—2nd highest among all methods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130" y="7328322"/>
            <a:ext cx="7377590" cy="192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Numbers often lead to better eligibility for </a:t>
            </a:r>
            <a:r>
              <a:rPr lang="en-US" sz="2766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featured snippets</a:t>
            </a: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or answer boxes, which AI models scrape from</a:t>
            </a:r>
          </a:p>
          <a:p>
            <a:pPr algn="l">
              <a:lnSpc>
                <a:spcPts val="387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00524" y="9146061"/>
            <a:ext cx="7377590" cy="144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Pages citing data from authoritative sources (e.g McKinsey) rank </a:t>
            </a:r>
            <a:r>
              <a:rPr lang="en-US" sz="2766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25%</a:t>
            </a: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higher on average</a:t>
            </a:r>
          </a:p>
          <a:p>
            <a:pPr algn="l">
              <a:lnSpc>
                <a:spcPts val="387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00524" y="2203756"/>
            <a:ext cx="737759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LLMO Method-</a:t>
            </a:r>
            <a:r>
              <a:rPr lang="en-US" sz="3000" i="true">
                <a:solidFill>
                  <a:srgbClr val="FF3131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Statistics, Source Citation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7092963" y="-11586584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19779" y="1337097"/>
            <a:ext cx="7992962" cy="7892969"/>
          </a:xfrm>
          <a:custGeom>
            <a:avLst/>
            <a:gdLst/>
            <a:ahLst/>
            <a:cxnLst/>
            <a:rect r="r" b="b" t="t" l="l"/>
            <a:pathLst>
              <a:path h="7892969" w="7992962">
                <a:moveTo>
                  <a:pt x="0" y="0"/>
                </a:moveTo>
                <a:lnTo>
                  <a:pt x="7992962" y="0"/>
                </a:lnTo>
                <a:lnTo>
                  <a:pt x="7992962" y="7892969"/>
                </a:lnTo>
                <a:lnTo>
                  <a:pt x="0" y="7892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52" r="-1566" b="-11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735" y="546015"/>
            <a:ext cx="7436379" cy="7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18"/>
              </a:lnSpc>
            </a:pPr>
            <a:r>
              <a:rPr lang="en-US" b="true" sz="54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LOYALTY: SLIQ </a:t>
            </a:r>
            <a:r>
              <a:rPr lang="en-US" b="true" sz="5414">
                <a:solidFill>
                  <a:srgbClr val="FF31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POINTS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1735" y="1504203"/>
            <a:ext cx="57337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Incentivising User Engagement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2946" y="2918503"/>
            <a:ext cx="7377590" cy="192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3"/>
              </a:lnSpc>
            </a:pPr>
            <a:r>
              <a:rPr lang="en-US" sz="2766" b="true">
                <a:solidFill>
                  <a:srgbClr val="FF313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75%</a:t>
            </a:r>
            <a:r>
              <a:rPr lang="en-US" sz="27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of AI search engine citations come from third-party sources like X posts, reddit posts, medium posts</a:t>
            </a:r>
          </a:p>
          <a:p>
            <a:pPr algn="just">
              <a:lnSpc>
                <a:spcPts val="387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2946" y="4667962"/>
            <a:ext cx="7436379" cy="147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SliQ </a:t>
            </a:r>
            <a:r>
              <a:rPr lang="en-US" sz="2788">
                <a:solidFill>
                  <a:srgbClr val="FF3131"/>
                </a:solidFill>
                <a:latin typeface="HK Grotesk"/>
                <a:ea typeface="HK Grotesk"/>
                <a:cs typeface="HK Grotesk"/>
                <a:sym typeface="HK Grotesk"/>
              </a:rPr>
              <a:t>Points</a:t>
            </a: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incentivises users to share products they purchased/liked across social media platforms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2341" y="6378305"/>
            <a:ext cx="7436379" cy="48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X share=20 pts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2341" y="7098048"/>
            <a:ext cx="7436379" cy="48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Whatsapp story share=10 pts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2341" y="7817791"/>
            <a:ext cx="7436379" cy="48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Instagram story share=10 pts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2341" y="8537535"/>
            <a:ext cx="7436379" cy="9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4"/>
              </a:lnSpc>
            </a:pPr>
            <a:r>
              <a:rPr lang="en-US" sz="278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Customers with highest pts are rewarded with coupons/CliQ cash or other rewards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1735" y="2156759"/>
            <a:ext cx="69493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LLMO Method-</a:t>
            </a:r>
            <a:r>
              <a:rPr lang="en-US" sz="3000" i="true">
                <a:solidFill>
                  <a:srgbClr val="FF3131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Authority, Citing Sources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2698948" cy="2024211"/>
          </a:xfrm>
          <a:custGeom>
            <a:avLst/>
            <a:gdLst/>
            <a:ahLst/>
            <a:cxnLst/>
            <a:rect r="r" b="b" t="t" l="l"/>
            <a:pathLst>
              <a:path h="2024211" w="2698948">
                <a:moveTo>
                  <a:pt x="0" y="0"/>
                </a:moveTo>
                <a:lnTo>
                  <a:pt x="2698948" y="0"/>
                </a:lnTo>
                <a:lnTo>
                  <a:pt x="2698948" y="2024211"/>
                </a:lnTo>
                <a:lnTo>
                  <a:pt x="0" y="2024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DAGp7qo5oqY</dc:identifier>
  <dcterms:modified xsi:type="dcterms:W3CDTF">2011-08-01T06:04:30Z</dcterms:modified>
  <cp:revision>1</cp:revision>
  <dc:title>Blue and Green Modern Artificial Intelligence Presentation</dc:title>
</cp:coreProperties>
</file>